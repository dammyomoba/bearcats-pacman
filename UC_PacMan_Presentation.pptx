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012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43000" y="164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CINCINNATI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5303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Decision-Making Research 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Bearcats Pac-Man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an Online Research Game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23360" y="2971800"/>
            <a:ext cx="164592" cy="164592"/>
          </a:xfrm>
          <a:prstGeom prst="ellipse">
            <a:avLst/>
          </a:prstGeom>
          <a:solidFill>
            <a:srgbClr val="E00122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971800"/>
            <a:ext cx="164592" cy="164592"/>
          </a:xfrm>
          <a:prstGeom prst="ellipse">
            <a:avLst/>
          </a:prstGeom>
          <a:solidFill>
            <a:srgbClr val="E0012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971800"/>
            <a:ext cx="164592" cy="164592"/>
          </a:xfrm>
          <a:prstGeom prst="ellipse">
            <a:avLst/>
          </a:prstGeom>
          <a:solidFill>
            <a:srgbClr val="E0012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Meeting  ·  University of Cincinnati  ·  2025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  ·  DigitalOcean  ·  GitHub Pages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16200000">
              <a:srgbClr val="CCCCCC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Online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play a custom Pac-Man maze game from any browser — no download needed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16200000">
              <a:srgbClr val="CCCCCC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move, decision, and event is recorded in real time — per frame, per player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38100" dir="16200000">
              <a:srgbClr val="CCCCCC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Ready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42316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feeds directly into the human decision-making study — clean CSV output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0122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— fully browser-based, no install required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229600" cy="530352"/>
          </a:xfrm>
          <a:prstGeom prst="rect">
            <a:avLst/>
          </a:prstGeom>
          <a:solidFill>
            <a:srgbClr val="24284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UC-themed Maze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371600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Pac-Man layout with UC Bearcats branding and 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84248"/>
            <a:ext cx="8229600" cy="530352"/>
          </a:xfrm>
          <a:prstGeom prst="rect">
            <a:avLst/>
          </a:prstGeom>
          <a:solidFill>
            <a:srgbClr val="24284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8424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👻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19842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Difficulty Levels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1984248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3 or 4 ghost obstacles — each with 4 adjustable speed settings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596896"/>
            <a:ext cx="8229600" cy="530352"/>
          </a:xfrm>
          <a:prstGeom prst="rect">
            <a:avLst/>
          </a:prstGeom>
          <a:solidFill>
            <a:srgbClr val="24284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9689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59689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2596896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degree milestones while avoiding exam failures and deadlines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209544"/>
            <a:ext cx="8229600" cy="530352"/>
          </a:xfrm>
          <a:prstGeom prst="rect">
            <a:avLst/>
          </a:prstGeom>
          <a:solidFill>
            <a:srgbClr val="24284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954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20954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Ghost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209544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Ghosts use A* pathfinding — each pinned to a different maze quadrant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22192"/>
            <a:ext cx="8229600" cy="530352"/>
          </a:xfrm>
          <a:prstGeom prst="rect">
            <a:avLst/>
          </a:prstGeom>
          <a:solidFill>
            <a:srgbClr val="242840"/>
          </a:solidFill>
          <a:ln w="6350">
            <a:solidFill>
              <a:srgbClr val="333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22192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82219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Logging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3822192"/>
            <a:ext cx="5349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position, direction, ghost positions, decisions — every frame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73736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691640"/>
            <a:ext cx="228600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58191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1737360" cy="1371600"/>
          </a:xfrm>
          <a:prstGeom prst="rect">
            <a:avLst/>
          </a:prstGeom>
          <a:solidFill>
            <a:srgbClr val="E0012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097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Droplet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228600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58191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1737360" cy="1371600"/>
          </a:xfrm>
          <a:prstGeom prst="rect">
            <a:avLst/>
          </a:prstGeom>
          <a:solidFill>
            <a:srgbClr val="1A6E3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97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228600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1581912"/>
            <a:ext cx="228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051560"/>
            <a:ext cx="1737360" cy="1371600"/>
          </a:xfrm>
          <a:prstGeom prst="rect">
            <a:avLst/>
          </a:prstGeom>
          <a:solidFill>
            <a:srgbClr val="7B3F0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0972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FFF3CD"/>
          </a:solidFill>
          <a:ln w="19050">
            <a:solidFill>
              <a:srgbClr val="FFB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7432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SONA Integration: JATOS generates unique participant links → paste directly into SONA study → participants click and play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11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game.js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95935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game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(A* AI, rendering, logging)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0" y="356616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3611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HTML Files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395935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difficulty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/ 3 / 4 ghosts)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56616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611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jatos.js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95935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Auto-served by JATOS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line to submit data)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66560" y="356616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611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Backup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959352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downloads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player's computer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012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recorded every session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502920"/>
          </a:xfrm>
          <a:prstGeom prst="rect">
            <a:avLst/>
          </a:prstGeom>
          <a:solidFill>
            <a:srgbClr val="1E224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2984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time of every event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4114800" cy="502920"/>
          </a:xfrm>
          <a:prstGeom prst="rect">
            <a:avLst/>
          </a:prstGeom>
          <a:solidFill>
            <a:srgbClr val="25284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8366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Position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88366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+ column every frame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14800" cy="502920"/>
          </a:xfrm>
          <a:prstGeom prst="rect">
            <a:avLst/>
          </a:prstGeom>
          <a:solidFill>
            <a:srgbClr val="1E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68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/ DOWN / LEFT / RIGHT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54096"/>
            <a:ext cx="4114800" cy="502920"/>
          </a:xfrm>
          <a:prstGeom prst="rect">
            <a:avLst/>
          </a:prstGeom>
          <a:solidFill>
            <a:srgbClr val="25284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05409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30540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direction at each cell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39312"/>
            <a:ext cx="4114800" cy="502920"/>
          </a:xfrm>
          <a:prstGeom prst="rect">
            <a:avLst/>
          </a:prstGeom>
          <a:solidFill>
            <a:srgbClr val="1E224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6393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Goal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36393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path length to target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298448"/>
            <a:ext cx="4114800" cy="502920"/>
          </a:xfrm>
          <a:prstGeom prst="rect">
            <a:avLst/>
          </a:prstGeom>
          <a:solidFill>
            <a:srgbClr val="1E2240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29844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Collected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129844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0-4 milestones reached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883664"/>
            <a:ext cx="4114800" cy="502920"/>
          </a:xfrm>
          <a:prstGeom prst="rect">
            <a:avLst/>
          </a:prstGeom>
          <a:solidFill>
            <a:srgbClr val="252848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88366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88366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with ghost obstacles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468880"/>
            <a:ext cx="4114800" cy="502920"/>
          </a:xfrm>
          <a:prstGeom prst="rect">
            <a:avLst/>
          </a:prstGeom>
          <a:solidFill>
            <a:srgbClr val="1E2240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468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24688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calls (&lt; 1.4 cells)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054096"/>
            <a:ext cx="4114800" cy="502920"/>
          </a:xfrm>
          <a:prstGeom prst="rect">
            <a:avLst/>
          </a:prstGeom>
          <a:solidFill>
            <a:srgbClr val="25284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05409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Positions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05409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ghost coords per frame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639312"/>
            <a:ext cx="4114800" cy="502920"/>
          </a:xfrm>
          <a:prstGeom prst="rect">
            <a:avLst/>
          </a:prstGeom>
          <a:solidFill>
            <a:srgbClr val="1E2240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63931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36393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or FAILURE + score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JSON to JATOS server  +  CSV auto-download to participant's computer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Right Now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live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game runs at dammyomoba.github.io/bearcats-pacman/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99032"/>
            <a:ext cx="832104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difficulty versions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 ghost, 3 ghost, 4 ghost (each with 4 speed levels)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832104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20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keyboard control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arrow keys / WASD, fluid movement matching ghost speed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13432"/>
            <a:ext cx="832104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77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3774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logging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per-frame CSV with name, M Number, all decisions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70632"/>
            <a:ext cx="832104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346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branding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logo, red/gold theme, Bearcat mascot, academic story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27832"/>
            <a:ext cx="832104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91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2918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JATOS-ready code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jatos.submitResultData() integrated, 1 line to activate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85032"/>
            <a:ext cx="832104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7490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37490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JATOS deployment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waiting for DigitalOcean droplet access from Kevin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832104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206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42062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0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 integration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study links ready to paste once JATOS is live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04088"/>
          </a:xfrm>
          <a:prstGeom prst="rect">
            <a:avLst/>
          </a:prstGeom>
          <a:solidFill>
            <a:srgbClr val="E0012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2560320" cy="1371600"/>
          </a:xfrm>
          <a:prstGeom prst="rect">
            <a:avLst/>
          </a:prstGeom>
          <a:solidFill>
            <a:srgbClr val="1E224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97280"/>
            <a:ext cx="384048" cy="384048"/>
          </a:xfrm>
          <a:prstGeom prst="ellipse">
            <a:avLst/>
          </a:prstGeom>
          <a:solidFill>
            <a:srgbClr val="E0012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11556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JATOS 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sets up JATOS on the DigitalOcean droplet — estimated: this week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2560320" cy="1371600"/>
          </a:xfrm>
          <a:prstGeom prst="rect">
            <a:avLst/>
          </a:prstGeom>
          <a:solidFill>
            <a:srgbClr val="1E224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1097280"/>
            <a:ext cx="384048" cy="384048"/>
          </a:xfrm>
          <a:prstGeom prst="ellipse">
            <a:avLst/>
          </a:prstGeom>
          <a:solidFill>
            <a:srgbClr val="E00122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67328" y="111556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game files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5361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game.js + 3 HTML files to JATOS study assets — 10 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987552"/>
            <a:ext cx="2560320" cy="1371600"/>
          </a:xfrm>
          <a:prstGeom prst="rect">
            <a:avLst/>
          </a:prstGeom>
          <a:solidFill>
            <a:srgbClr val="1E224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097280"/>
            <a:ext cx="384048" cy="384048"/>
          </a:xfrm>
          <a:prstGeom prst="ellipse">
            <a:avLst/>
          </a:prstGeom>
          <a:solidFill>
            <a:srgbClr val="E00122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01968" y="111556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study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536192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participant links in JATOS Worker Manager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542032"/>
            <a:ext cx="3200400" cy="1371600"/>
          </a:xfrm>
          <a:prstGeom prst="rect">
            <a:avLst/>
          </a:prstGeom>
          <a:solidFill>
            <a:srgbClr val="1E224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2651760"/>
            <a:ext cx="384048" cy="384048"/>
          </a:xfrm>
          <a:prstGeom prst="ellipse">
            <a:avLst/>
          </a:prstGeom>
          <a:solidFill>
            <a:srgbClr val="E00122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81328" y="2670048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SONA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090672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JATOS links into SONA study — participants click and play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542032"/>
            <a:ext cx="3200400" cy="1371600"/>
          </a:xfrm>
          <a:prstGeom prst="rect">
            <a:avLst/>
          </a:prstGeom>
          <a:solidFill>
            <a:srgbClr val="1E2240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2651760"/>
            <a:ext cx="384048" cy="384048"/>
          </a:xfrm>
          <a:prstGeom prst="ellipse">
            <a:avLst/>
          </a:prstGeom>
          <a:solidFill>
            <a:srgbClr val="E00122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38928" y="2670048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pilot trial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3090672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3-5 participants, verify data appears in JATOS results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165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First participants playing online within 2 weeks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2026-07-22T13:52:12Z</dcterms:created>
  <dcterms:modified xsi:type="dcterms:W3CDTF">2026-07-22T13:52:12Z</dcterms:modified>
</cp:coreProperties>
</file>